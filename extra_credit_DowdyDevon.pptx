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0408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82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student smiling while studying with a phone and laptop"/>
          <p:cNvPicPr>
            <a:picLocks noChangeAspect="1"/>
          </p:cNvPicPr>
          <p:nvPr/>
        </p:nvPicPr>
        <p:blipFill>
          <a:blip r:embed="rId3"/>
          <a:srcRect l="4170" r="4170"/>
          <a:stretch/>
        </p:blipFill>
        <p:spPr>
          <a:xfrm>
            <a:off x="8001000" y="0"/>
            <a:ext cx="4190695" cy="6858000"/>
          </a:xfrm>
          <a:prstGeom prst="rect">
            <a:avLst/>
          </a:prstGeom>
        </p:spPr>
      </p:pic>
      <p:sp>
        <p:nvSpPr>
          <p:cNvPr id="3" name="se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0"/>
            <a:ext cx="137160" cy="685800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4480"/>
            <a:ext cx="502920" cy="128016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STUDY BUDDY FOR COLLEGE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040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StudyMate AI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77240" y="4160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own course materials into personalized practice questions, adaptive review, and grounded explanations.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7240" y="5257800"/>
            <a:ext cx="676656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 Devon Dowdy ·     July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852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41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WHO IT SERVES</a:t>
            </a:r>
            <a:endParaRPr lang="en-US" sz="11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Studying Hard, Learning Less</a:t>
            </a:r>
            <a:endParaRPr lang="en-US" sz="2800" dirty="0"/>
          </a:p>
        </p:txBody>
      </p:sp>
      <p:pic>
        <p:nvPicPr>
          <p:cNvPr id="5" name="Image 0" descr="Student overwhelmed at a desk piled with textbooks and notes"/>
          <p:cNvPicPr>
            <a:picLocks noChangeAspect="1"/>
          </p:cNvPicPr>
          <p:nvPr/>
        </p:nvPicPr>
        <p:blipFill>
          <a:blip r:embed="rId3"/>
          <a:srcRect l="21905" r="21905"/>
          <a:stretch/>
        </p:blipFill>
        <p:spPr>
          <a:xfrm>
            <a:off x="7635240" y="1554480"/>
            <a:ext cx="377647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buried in readings and slides but have no fast, personalized way to test what they actually know. Passive re-reading feels productive yet fades quickly, and tutoring or office hours are limited and hard to schedule.</a:t>
            </a:r>
            <a:endParaRPr lang="en-US" sz="1550" dirty="0"/>
          </a:p>
        </p:txBody>
      </p:sp>
      <p:sp>
        <p:nvSpPr>
          <p:cNvPr id="7" name="sta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200400"/>
            <a:ext cx="3063240" cy="1371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3101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" y="3968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college students already use AI for schoolwork</a:t>
            </a:r>
            <a:endParaRPr lang="en-US" sz="1150" dirty="0"/>
          </a:p>
        </p:txBody>
      </p:sp>
      <p:sp>
        <p:nvSpPr>
          <p:cNvPr id="10" name="pai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9080" y="3200400"/>
            <a:ext cx="32004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51960" y="3310128"/>
            <a:ext cx="2880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hurts
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grades, exam stress, and wasted study hours — especially in large intro courses.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8280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1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248656"/>
            <a:ext cx="118872" cy="11887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51937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STEM &amp; large-lecture undergrads — </a:t>
            </a: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 constant self-testing to keep up</a:t>
            </a:r>
            <a:endParaRPr lang="en-US" sz="1250" dirty="0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650992"/>
            <a:ext cx="118872" cy="11887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7280" y="55961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&amp; working students — </a:t>
            </a: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access to tutors or office hours</a:t>
            </a:r>
            <a:endParaRPr lang="en-US" sz="1250" dirty="0"/>
          </a:p>
        </p:txBody>
      </p:sp>
      <p:sp>
        <p:nvSpPr>
          <p:cNvPr id="1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53328"/>
            <a:ext cx="118872" cy="11887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97280" y="59984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preppers — </a:t>
            </a: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cramming across multiple courses at once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Design Extra Credit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41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USER STORY</a:t>
            </a:r>
            <a:endParaRPr lang="en-US" sz="11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Students Actually Use It</a:t>
            </a:r>
            <a:endParaRPr lang="en-US" sz="2800" dirty="0"/>
          </a:p>
        </p:txBody>
      </p:sp>
      <p:sp>
        <p:nvSpPr>
          <p:cNvPr id="5" name="featur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36192"/>
            <a:ext cx="672084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36192"/>
            <a:ext cx="566928" cy="676656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153619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practice  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Upload notes or slides and instantly get quiz questions with answer keys.</a:t>
            </a:r>
            <a:endParaRPr lang="en-US" sz="1400" dirty="0"/>
          </a:p>
        </p:txBody>
      </p:sp>
      <p:sp>
        <p:nvSpPr>
          <p:cNvPr id="9" name="featur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22576"/>
            <a:ext cx="672084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22576"/>
            <a:ext cx="566928" cy="676656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22576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2322576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spaced review  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Questions resurface right before you'd forget, focused on your weak topics.</a:t>
            </a:r>
            <a:endParaRPr lang="en-US" sz="1400" dirty="0"/>
          </a:p>
        </p:txBody>
      </p:sp>
      <p:sp>
        <p:nvSpPr>
          <p:cNvPr id="13" name="featur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108960"/>
            <a:ext cx="672084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108960"/>
            <a:ext cx="566928" cy="676656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310896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explanations  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answer cites your own materials — not made-up facts.</a:t>
            </a:r>
            <a:endParaRPr lang="en-US" sz="1400" dirty="0"/>
          </a:p>
        </p:txBody>
      </p:sp>
      <p:sp>
        <p:nvSpPr>
          <p:cNvPr id="17" name="featur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895344"/>
            <a:ext cx="672084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895344"/>
            <a:ext cx="566928" cy="676656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1328" y="389534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dashboard  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 topic-by-topic progress and what to study next.</a:t>
            </a:r>
            <a:endParaRPr lang="en-US" sz="1400" dirty="0"/>
          </a:p>
        </p:txBody>
      </p:sp>
      <p:sp>
        <p:nvSpPr>
          <p:cNvPr id="21" name="featur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681728"/>
            <a:ext cx="672084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681728"/>
            <a:ext cx="566928" cy="676656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68172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81328" y="468172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planner  </a:t>
            </a:r>
            <a:r>
              <a:rPr lang="en-US" sz="12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Builds an exam countdown plan around your real schedule.</a:t>
            </a:r>
            <a:endParaRPr lang="en-US" sz="1400" dirty="0"/>
          </a:p>
        </p:txBody>
      </p:sp>
      <p:sp>
        <p:nvSpPr>
          <p:cNvPr id="25" name="user stor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532120"/>
            <a:ext cx="6720840" cy="713232"/>
          </a:xfrm>
          <a:prstGeom prst="rect">
            <a:avLst/>
          </a:prstGeom>
          <a:solidFill>
            <a:srgbClr val="FBF3DF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5532120"/>
            <a:ext cx="6355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 </a:t>
            </a:r>
            <a:r>
              <a:rPr lang="en-US" sz="1200" i="1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bio major, I upload my lecture PDF the night before a quiz and drill the 10 questions StudyMate flags as my weakest.”</a:t>
            </a:r>
            <a:endParaRPr lang="en-US" sz="1200" dirty="0"/>
          </a:p>
        </p:txBody>
      </p:sp>
      <p:sp>
        <p:nvSpPr>
          <p:cNvPr id="27" name="phone bod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1417320"/>
            <a:ext cx="2514600" cy="480060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25400">
            <a:solidFill>
              <a:srgbClr val="1E2A4A"/>
            </a:solidFill>
            <a:prstDash val="solid"/>
          </a:ln>
          <a:effectLst>
            <a:outerShdw blurRad="114300" dist="38100" dir="5400000" algn="bl" rotWithShape="0">
              <a:srgbClr val="8A94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ap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7656" y="1563624"/>
            <a:ext cx="2258568" cy="566928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77656" y="156362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77656" y="220370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101  ·  QUIZ</a:t>
            </a:r>
            <a:endParaRPr lang="en-US" sz="800" dirty="0"/>
          </a:p>
        </p:txBody>
      </p:sp>
      <p:sp>
        <p:nvSpPr>
          <p:cNvPr id="31" name="questi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2514600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42248" y="2624328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organelle produces most of the cell's ATP?</a:t>
            </a:r>
            <a:endParaRPr lang="en-US" sz="950" dirty="0"/>
          </a:p>
        </p:txBody>
      </p:sp>
      <p:sp>
        <p:nvSpPr>
          <p:cNvPr id="33" name="op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379476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60536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9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</a:t>
            </a:r>
            <a:endParaRPr lang="en-US" sz="950" dirty="0"/>
          </a:p>
        </p:txBody>
      </p:sp>
      <p:sp>
        <p:nvSpPr>
          <p:cNvPr id="35" name="op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425196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BF3DF"/>
          </a:solidFill>
          <a:ln w="15875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60536" y="4251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9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Mitochondrion</a:t>
            </a:r>
            <a:endParaRPr lang="en-US" sz="950" dirty="0"/>
          </a:p>
        </p:txBody>
      </p:sp>
      <p:sp>
        <p:nvSpPr>
          <p:cNvPr id="37" name="op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470916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60536" y="4709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9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Golgi body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32520" y="53035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MASTERY: CELL BIOLOGY</a:t>
            </a:r>
            <a:endParaRPr lang="en-US" sz="750" dirty="0"/>
          </a:p>
        </p:txBody>
      </p:sp>
      <p:sp>
        <p:nvSpPr>
          <p:cNvPr id="40" name="progress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5532120"/>
            <a:ext cx="2148840" cy="201168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rogress 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5532120"/>
            <a:ext cx="1547165" cy="20116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32520" y="5788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mastered  ·  3 topics left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49640" y="6263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interface concept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Design Extra Credit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41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USED</a:t>
            </a:r>
            <a:endParaRPr lang="en-US" sz="11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Under the Hood</a:t>
            </a:r>
            <a:endParaRPr lang="en-US" sz="2800" dirty="0"/>
          </a:p>
        </p:txBody>
      </p:sp>
      <p:sp>
        <p:nvSpPr>
          <p:cNvPr id="5" name="statem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481328"/>
            <a:ext cx="10634472" cy="932688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481328"/>
            <a:ext cx="146304" cy="932688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10149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 reads a student's own course materials, then generates targeted practice questions, schedules adaptive reviews, and answers with explanations grounded in those materials.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components work together:</a:t>
            </a:r>
            <a:endParaRPr lang="en-US" sz="1300" dirty="0"/>
          </a:p>
        </p:txBody>
      </p:sp>
      <p:sp>
        <p:nvSpPr>
          <p:cNvPr id="9" name="compon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200400"/>
            <a:ext cx="342900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200400"/>
            <a:ext cx="3429000" cy="109728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4015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584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NLP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46268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text-to-text transformer (T5-style) turns passages from your notes into clear practice questions and answers.</a:t>
            </a:r>
            <a:endParaRPr lang="en-US" sz="1150" dirty="0"/>
          </a:p>
        </p:txBody>
      </p:sp>
      <p:sp>
        <p:nvSpPr>
          <p:cNvPr id="15" name="compon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976" y="3200400"/>
            <a:ext cx="342900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976" y="3200400"/>
            <a:ext cx="3429000" cy="109728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34015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08576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Answers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08576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08576" y="46268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the exact source passage before answering, so explanations stay tied to your materials and hallucinations drop.</a:t>
            </a:r>
            <a:endParaRPr lang="en-US" sz="1150" dirty="0"/>
          </a:p>
        </p:txBody>
      </p:sp>
      <p:sp>
        <p:nvSpPr>
          <p:cNvPr id="21" name="compon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2712" y="3200400"/>
            <a:ext cx="342900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2712" y="3200400"/>
            <a:ext cx="3429000" cy="109728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11312" y="34015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211312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Review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11312" y="46268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knowledge-tracing model predicts what you're likely to forget and schedules spaced-repetition reviews on your weak topics.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Design Extra Credit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41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 &amp; DATA</a:t>
            </a:r>
            <a:endParaRPr lang="en-US" sz="11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Goes In, What Comes Out</a:t>
            </a:r>
            <a:endParaRPr lang="en-US" sz="2800" dirty="0"/>
          </a:p>
        </p:txBody>
      </p:sp>
      <p:sp>
        <p:nvSpPr>
          <p:cNvPr id="5" name="io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36192"/>
            <a:ext cx="4160520" cy="2514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o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36192"/>
            <a:ext cx="4160520" cy="54864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notes, slides &amp; textbook excerpts (text/PDF)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 and syllabus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&amp; response history</a:t>
            </a:r>
            <a:endParaRPr lang="en-US" sz="125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8928" y="2514600"/>
            <a:ext cx="685800" cy="594360"/>
          </a:xfrm>
          <a:prstGeom prst="chevron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io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36192"/>
            <a:ext cx="4160520" cy="2514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io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36192"/>
            <a:ext cx="4160520" cy="548640"/>
          </a:xfrm>
          <a:prstGeom prst="rect">
            <a:avLst/>
          </a:prstGeom>
          <a:solidFill>
            <a:srgbClr val="B986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15361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+ answer keys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mastery scores (0–100%)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Next-review schedule &amp; study suggestions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2793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  &amp;  HOW MUCH</a:t>
            </a:r>
            <a:endParaRPr lang="en-US" sz="1200" dirty="0"/>
          </a:p>
        </p:txBody>
      </p:sp>
      <p:sp>
        <p:nvSpPr>
          <p:cNvPr id="15" name="dat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645152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ata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645152"/>
            <a:ext cx="3429000" cy="9144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8408" y="4791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datasets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51755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2.0 (~150K Q&amp;A pairs) to train question generation; EdNet (~780K learners, 100M+ interactions) for knowledge tracing.</a:t>
            </a:r>
            <a:endParaRPr lang="en-US" sz="1100" dirty="0"/>
          </a:p>
        </p:txBody>
      </p:sp>
      <p:sp>
        <p:nvSpPr>
          <p:cNvPr id="19" name="dat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976" y="4645152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ata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976" y="4645152"/>
            <a:ext cx="3429000" cy="9144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81144" y="4791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User-provided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81144" y="51755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uploaded materials + quiz responses; personalization kicks in after ~20–30 answered questions.</a:t>
            </a:r>
            <a:endParaRPr lang="en-US" sz="1100" dirty="0"/>
          </a:p>
        </p:txBody>
      </p:sp>
      <p:sp>
        <p:nvSpPr>
          <p:cNvPr id="23" name="dat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2712" y="4645152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ata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2712" y="4645152"/>
            <a:ext cx="3429000" cy="9144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3880" y="4791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/ LMS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51755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pulled from the learning system, with permission. Fine-tuning target: ~50–100K Q&amp;A pairs.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Design Extra Credit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41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&amp; EVALUATION</a:t>
            </a:r>
            <a:endParaRPr lang="en-US" sz="11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Model, Measured Honestly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MODELS FIT</a:t>
            </a:r>
            <a:endParaRPr lang="en-US" sz="1200" dirty="0"/>
          </a:p>
        </p:txBody>
      </p:sp>
      <p:sp>
        <p:nvSpPr>
          <p:cNvPr id="6" name="mod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920240"/>
            <a:ext cx="5120640" cy="11338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920240"/>
            <a:ext cx="109728" cy="1133856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seq2seq (T5)  </a:t>
            </a:r>
            <a:r>
              <a:rPr lang="en-US" sz="1200" i="1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4871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text-in → text-out; proven on educational Q&amp;A.</a:t>
            </a:r>
            <a:endParaRPr lang="en-US" sz="1150" dirty="0"/>
          </a:p>
        </p:txBody>
      </p:sp>
      <p:sp>
        <p:nvSpPr>
          <p:cNvPr id="10" name="mod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218688"/>
            <a:ext cx="5120640" cy="11338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od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218688"/>
            <a:ext cx="109728" cy="1133856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3467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 + generator  </a:t>
            </a:r>
            <a:r>
              <a:rPr lang="en-US" sz="1200" i="1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grounded answers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7856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responses tied to source, cutting hallucination.</a:t>
            </a:r>
            <a:endParaRPr lang="en-US" sz="1150" dirty="0"/>
          </a:p>
        </p:txBody>
      </p:sp>
      <p:sp>
        <p:nvSpPr>
          <p:cNvPr id="14" name="mod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517136"/>
            <a:ext cx="5120640" cy="113385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od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517136"/>
            <a:ext cx="109728" cy="1133856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645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 / spaced repetition  </a:t>
            </a:r>
            <a:r>
              <a:rPr lang="en-US" sz="1200" i="1" dirty="0">
                <a:solidFill>
                  <a:srgbClr val="B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scheduling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50840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over time predicts recall and timing.</a:t>
            </a:r>
            <a:endParaRPr lang="en-US" sz="1150" dirty="0"/>
          </a:p>
        </p:txBody>
      </p:sp>
      <p:sp>
        <p:nvSpPr>
          <p:cNvPr id="18" name="ev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1536192"/>
            <a:ext cx="5148072" cy="4261104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200" dirty="0"/>
          </a:p>
        </p:txBody>
      </p:sp>
      <p:sp>
        <p:nvSpPr>
          <p:cNvPr id="20" name="metric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2240280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21671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quality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0" y="2468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vs. references, plus human relevance review</a:t>
            </a:r>
            <a:endParaRPr lang="en-US" sz="1150" dirty="0"/>
          </a:p>
        </p:txBody>
      </p:sp>
      <p:sp>
        <p:nvSpPr>
          <p:cNvPr id="23" name="metric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3099816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30266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correctness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49440" y="3328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 / recall, F1</a:t>
            </a:r>
            <a:endParaRPr lang="en-US" sz="1150" dirty="0"/>
          </a:p>
        </p:txBody>
      </p:sp>
      <p:sp>
        <p:nvSpPr>
          <p:cNvPr id="26" name="metric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3959352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0" y="4187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next-answer prediction</a:t>
            </a:r>
            <a:endParaRPr lang="en-US" sz="1150" dirty="0"/>
          </a:p>
        </p:txBody>
      </p:sp>
      <p:sp>
        <p:nvSpPr>
          <p:cNvPr id="29" name="metric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4818888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0" y="47457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success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49440" y="5047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(CSAT), quiz-score gains, return 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Design Extra Credit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85800"/>
            <a:ext cx="548640" cy="128016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SOURCES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StudyMate AI turns passive studying into active, personalized practice</a:t>
            </a:r>
            <a:r>
              <a:rPr lang="en-US" sz="2200" dirty="0">
                <a:solidFill>
                  <a:srgbClr val="D9E0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helping every student learn more in less time, and do it honestly.</a:t>
            </a:r>
            <a:endParaRPr lang="en-US" sz="2200" dirty="0"/>
          </a:p>
        </p:txBody>
      </p:sp>
      <p:sp>
        <p:nvSpPr>
          <p:cNvPr id="6" name="ethic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29000"/>
            <a:ext cx="10561320" cy="1051560"/>
          </a:xfrm>
          <a:prstGeom prst="rect">
            <a:avLst/>
          </a:prstGeom>
          <a:solidFill>
            <a:srgbClr val="2A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ethics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29000"/>
            <a:ext cx="128016" cy="105156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responsibly:  </a:t>
            </a: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stays private, grounding + human review limit hallucination, and integrity guardrails coach learning instead of handing over graded answers.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Rajpurkar et al. — SQuAD 2.0, Stanford (rajpurkar.github.io/SQuAD-explorer)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 et al. — EdNet dataset, Riiid (arXiv:1912.03072)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&amp; Meeder — Half-Life Regression, Duolingo (github.com/duolingo/halflife-regression)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— TutorLLM: Knowledge Tracing + RAG (arXiv:2502.15709)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HAI — 2026 AI Index (student AI-use statistic)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863</Words>
  <Application>Microsoft Office PowerPoint</Application>
  <PresentationFormat>Widescreen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StudyMate AI</vt:lpstr>
      <vt:lpstr>Studying Hard, Learning Less</vt:lpstr>
      <vt:lpstr>How Students Actually Use It</vt:lpstr>
      <vt:lpstr>The AI Under the Hood</vt:lpstr>
      <vt:lpstr>What Goes In, What Comes Out</vt:lpstr>
      <vt:lpstr>Right Model, Measured Honestly</vt:lpstr>
      <vt:lpstr>Why It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Dowdy</dc:creator>
  <cp:lastModifiedBy>Ken Dowdy</cp:lastModifiedBy>
  <cp:revision>1</cp:revision>
  <dcterms:created xsi:type="dcterms:W3CDTF">2026-07-12T01:21:59Z</dcterms:created>
  <dcterms:modified xsi:type="dcterms:W3CDTF">2026-07-12T01:30:59Z</dcterms:modified>
</cp:coreProperties>
</file>